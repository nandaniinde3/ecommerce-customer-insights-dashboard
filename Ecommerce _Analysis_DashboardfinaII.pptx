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60" r:id="rId4"/>
    <p:sldId id="258" r:id="rId5"/>
    <p:sldId id="261" r:id="rId6"/>
    <p:sldId id="267" r:id="rId7"/>
    <p:sldId id="268" r:id="rId8"/>
    <p:sldId id="269" r:id="rId9"/>
    <p:sldId id="270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37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2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3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9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7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4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6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135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73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25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38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17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5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717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6401"/>
            <a:ext cx="9144000" cy="3588774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290" y="2592766"/>
            <a:ext cx="82394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3000" dirty="0"/>
              <a:t>MARKETPULSE- ECOMMERCE CUSTOMER INSIGHTS DASHBOARD </a:t>
            </a:r>
            <a:endParaRPr sz="4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5E07C8-AECC-85DD-C91F-0831FAAE3B4D}"/>
              </a:ext>
            </a:extLst>
          </p:cNvPr>
          <p:cNvCxnSpPr/>
          <p:nvPr/>
        </p:nvCxnSpPr>
        <p:spPr>
          <a:xfrm>
            <a:off x="0" y="1484672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7402DE-026E-EEA3-4272-351271929818}"/>
              </a:ext>
            </a:extLst>
          </p:cNvPr>
          <p:cNvCxnSpPr/>
          <p:nvPr/>
        </p:nvCxnSpPr>
        <p:spPr>
          <a:xfrm>
            <a:off x="0" y="5456904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9348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I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endParaRPr sz="3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7085" y="1946785"/>
            <a:ext cx="79936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This dashboard presents a clear summary of E-commerce sales performance, including revenue trends, order volume, and product category insights.</a:t>
            </a:r>
          </a:p>
          <a:p>
            <a:b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</a:br>
            <a:endParaRPr lang="en-US"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 It also provides key customer behavior metrics such as churn, segments, and retention patterns to support informed decision-making and business improvement</a:t>
            </a:r>
          </a:p>
          <a:p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800">
                <a:solidFill>
                  <a:srgbClr val="202020"/>
                </a:solidFill>
              </a:defRPr>
            </a:pPr>
            <a:endParaRPr sz="2400" dirty="0">
              <a:latin typeface="Calisto MT" panose="0204060305050503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918944-B05F-2B48-6700-5108A713A3C7}"/>
              </a:ext>
            </a:extLst>
          </p:cNvPr>
          <p:cNvCxnSpPr/>
          <p:nvPr/>
        </p:nvCxnSpPr>
        <p:spPr>
          <a:xfrm>
            <a:off x="0" y="113071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35DFA1-4CE1-6D39-6A98-BDCF4778C9C4}"/>
              </a:ext>
            </a:extLst>
          </p:cNvPr>
          <p:cNvCxnSpPr/>
          <p:nvPr/>
        </p:nvCxnSpPr>
        <p:spPr>
          <a:xfrm>
            <a:off x="0" y="685800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1479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OVERVIEW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5546CA-DB92-E5E5-C780-DAE7E283AC81}"/>
              </a:ext>
            </a:extLst>
          </p:cNvPr>
          <p:cNvCxnSpPr/>
          <p:nvPr/>
        </p:nvCxnSpPr>
        <p:spPr>
          <a:xfrm>
            <a:off x="0" y="1199536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F94D54-9216-B41F-81C0-D56329389BCF}"/>
              </a:ext>
            </a:extLst>
          </p:cNvPr>
          <p:cNvCxnSpPr/>
          <p:nvPr/>
        </p:nvCxnSpPr>
        <p:spPr>
          <a:xfrm>
            <a:off x="0" y="685800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AD1877-AF4D-D57B-BC21-06A50E4DA04F}"/>
              </a:ext>
            </a:extLst>
          </p:cNvPr>
          <p:cNvSpPr txBox="1"/>
          <p:nvPr/>
        </p:nvSpPr>
        <p:spPr>
          <a:xfrm>
            <a:off x="1356852" y="1838632"/>
            <a:ext cx="64302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Built an interactive Power BI dashboard to analyze e-commerce sales performance</a:t>
            </a:r>
          </a:p>
          <a:p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The dashboard helps stakeholders understand sales trends, customer behavior, and payment preferences.</a:t>
            </a:r>
          </a:p>
          <a:p>
            <a:endParaRPr lang="en-US"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Data-driven insights are used to support business decision-making.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72929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IN" dirty="0"/>
              <a:t>PROBLEM STATEMENT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DE0FBE-C99F-F783-DEB3-03F591A5899A}"/>
              </a:ext>
            </a:extLst>
          </p:cNvPr>
          <p:cNvCxnSpPr/>
          <p:nvPr/>
        </p:nvCxnSpPr>
        <p:spPr>
          <a:xfrm>
            <a:off x="0" y="1150375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6294DD-DDAA-FA31-5802-0657E7528136}"/>
              </a:ext>
            </a:extLst>
          </p:cNvPr>
          <p:cNvCxnSpPr/>
          <p:nvPr/>
        </p:nvCxnSpPr>
        <p:spPr>
          <a:xfrm>
            <a:off x="0" y="6838336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EB30F7F-6FDF-770D-3542-28DA29A4FC8A}"/>
              </a:ext>
            </a:extLst>
          </p:cNvPr>
          <p:cNvSpPr txBox="1"/>
          <p:nvPr/>
        </p:nvSpPr>
        <p:spPr>
          <a:xfrm>
            <a:off x="1042219" y="2281084"/>
            <a:ext cx="7423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The core problem the business faces, as highlighted in the dashboard data, is the accelerating decline in new customer acquisition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60698"/>
            <a:ext cx="71467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PERFORMANCE INDICATORS (KPIS</a:t>
            </a:r>
            <a:r>
              <a:rPr lang="en-IN" dirty="0"/>
              <a:t>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82937" y="1628507"/>
            <a:ext cx="75629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202020"/>
                </a:solidFill>
              </a:defRPr>
            </a:pPr>
            <a:endParaRPr lang="en-IN"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Total Orders: 1.5K orders processed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Total Sales: 61M revenue generated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Quantity Sold: 4K items sold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Total Discount: 15K discount offered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.</a:t>
            </a:r>
            <a:endParaRPr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8CA5A6-A203-2ABD-CB76-21A0128A3D7D}"/>
              </a:ext>
            </a:extLst>
          </p:cNvPr>
          <p:cNvCxnSpPr/>
          <p:nvPr/>
        </p:nvCxnSpPr>
        <p:spPr>
          <a:xfrm>
            <a:off x="0" y="113071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4BEA55-57B4-81C9-4276-6F35B8F37E04}"/>
              </a:ext>
            </a:extLst>
          </p:cNvPr>
          <p:cNvCxnSpPr/>
          <p:nvPr/>
        </p:nvCxnSpPr>
        <p:spPr>
          <a:xfrm>
            <a:off x="0" y="6867832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CC11C-77AD-4F92-6BB8-CB3FA867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9DF1C7-1FA2-F039-023A-8A4CC55E8248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C371D-CE5E-5509-826B-885B3FDC6602}"/>
              </a:ext>
            </a:extLst>
          </p:cNvPr>
          <p:cNvSpPr txBox="1"/>
          <p:nvPr/>
        </p:nvSpPr>
        <p:spPr>
          <a:xfrm>
            <a:off x="548640" y="260698"/>
            <a:ext cx="59198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CATEGORY-WISE SALES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08518-A4E2-BD94-9ABB-DE770E50A782}"/>
              </a:ext>
            </a:extLst>
          </p:cNvPr>
          <p:cNvSpPr txBox="1"/>
          <p:nvPr/>
        </p:nvSpPr>
        <p:spPr>
          <a:xfrm>
            <a:off x="790513" y="1520785"/>
            <a:ext cx="756297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Californian FB" panose="0207040306080B030204" pitchFamily="18" charset="0"/>
              </a:rPr>
              <a:t>Donut chart used to analyze sales contribution by product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Californian FB" panose="0207040306080B030204" pitchFamily="18" charset="0"/>
              </a:rPr>
              <a:t>Fashion and Beauty categories contribute the highest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Californian FB" panose="0207040306080B030204" pitchFamily="18" charset="0"/>
              </a:rPr>
              <a:t>Electronics and Home Decor show stable sales performance.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sz="24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B8C89C-D081-23B7-F11F-7703D2C6DD1A}"/>
              </a:ext>
            </a:extLst>
          </p:cNvPr>
          <p:cNvCxnSpPr/>
          <p:nvPr/>
        </p:nvCxnSpPr>
        <p:spPr>
          <a:xfrm>
            <a:off x="0" y="113071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E57333-2F19-FBA6-2E0E-355531B5EB53}"/>
              </a:ext>
            </a:extLst>
          </p:cNvPr>
          <p:cNvCxnSpPr/>
          <p:nvPr/>
        </p:nvCxnSpPr>
        <p:spPr>
          <a:xfrm>
            <a:off x="0" y="6867832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09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D0CDC-B89B-F4EE-671E-4AF1FCC3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35100-928C-1534-AE90-E1E86FF569A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1AA4B-AB79-5DFE-FEF3-F99C9EAB13C7}"/>
              </a:ext>
            </a:extLst>
          </p:cNvPr>
          <p:cNvSpPr txBox="1"/>
          <p:nvPr/>
        </p:nvSpPr>
        <p:spPr>
          <a:xfrm>
            <a:off x="548640" y="260698"/>
            <a:ext cx="53547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PAYMENT METHOD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66611-411C-9F9F-9BC1-3F31D0BA126B}"/>
              </a:ext>
            </a:extLst>
          </p:cNvPr>
          <p:cNvSpPr txBox="1"/>
          <p:nvPr/>
        </p:nvSpPr>
        <p:spPr>
          <a:xfrm>
            <a:off x="790513" y="1455787"/>
            <a:ext cx="75629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endParaRPr lang="en-IN" sz="26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Californian FB" panose="0207040306080B030204" pitchFamily="18" charset="0"/>
              </a:rPr>
              <a:t>Bar chart used to identify preferred payment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Californian FB" panose="0207040306080B030204" pitchFamily="18" charset="0"/>
              </a:rPr>
              <a:t>Net Banking and UPI are the most preferred payment modes.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Californian FB" panose="0207040306080B030204" pitchFamily="18" charset="0"/>
              </a:rPr>
              <a:t>Shows a strong shift toward digital payments over cards and cash</a:t>
            </a:r>
            <a:endParaRPr sz="26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F25552-B9D5-6A8B-31D9-BCC3D8E9AC2C}"/>
              </a:ext>
            </a:extLst>
          </p:cNvPr>
          <p:cNvCxnSpPr/>
          <p:nvPr/>
        </p:nvCxnSpPr>
        <p:spPr>
          <a:xfrm>
            <a:off x="0" y="113071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124D96-E73B-CEB6-4899-172A9600D3CA}"/>
              </a:ext>
            </a:extLst>
          </p:cNvPr>
          <p:cNvCxnSpPr/>
          <p:nvPr/>
        </p:nvCxnSpPr>
        <p:spPr>
          <a:xfrm>
            <a:off x="0" y="6867832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99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19D34-F135-FA2D-BE3D-5A3660A6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5F70AF-D284-B48A-DC11-72BE45BA9A40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9F57C-BD6A-1EE7-D9FB-4CF3B9000C5C}"/>
              </a:ext>
            </a:extLst>
          </p:cNvPr>
          <p:cNvSpPr txBox="1"/>
          <p:nvPr/>
        </p:nvSpPr>
        <p:spPr>
          <a:xfrm>
            <a:off x="548640" y="260698"/>
            <a:ext cx="50874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Geographical Sales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61A7B-4C1F-F6E5-9FA8-96AB11491FC1}"/>
              </a:ext>
            </a:extLst>
          </p:cNvPr>
          <p:cNvSpPr txBox="1"/>
          <p:nvPr/>
        </p:nvSpPr>
        <p:spPr>
          <a:xfrm>
            <a:off x="790513" y="1744263"/>
            <a:ext cx="7562973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Map visualization used to analyze state-wise sales distribution.</a:t>
            </a:r>
          </a:p>
          <a:p>
            <a:endParaRPr lang="en-US"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Maharashtra and Karnataka show the highest sales concentration.</a:t>
            </a:r>
          </a:p>
          <a:p>
            <a:endParaRPr lang="en-US"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These states represent key target markets for future growth.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sz="26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E54434-A35C-5781-0CC1-96E4DEDE0F4A}"/>
              </a:ext>
            </a:extLst>
          </p:cNvPr>
          <p:cNvCxnSpPr/>
          <p:nvPr/>
        </p:nvCxnSpPr>
        <p:spPr>
          <a:xfrm>
            <a:off x="0" y="113071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43DB2B-928E-EE71-6FCC-1CFD66AC0AEE}"/>
              </a:ext>
            </a:extLst>
          </p:cNvPr>
          <p:cNvCxnSpPr/>
          <p:nvPr/>
        </p:nvCxnSpPr>
        <p:spPr>
          <a:xfrm>
            <a:off x="0" y="6867832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03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B7146-8F37-CE91-847E-44276CE2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805AC2-4D61-7704-1F8E-8334EB917B1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1C3AC-DE0E-8926-34E5-B551E9E2F2D9}"/>
              </a:ext>
            </a:extLst>
          </p:cNvPr>
          <p:cNvSpPr txBox="1"/>
          <p:nvPr/>
        </p:nvSpPr>
        <p:spPr>
          <a:xfrm>
            <a:off x="548640" y="260698"/>
            <a:ext cx="463300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IN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BUSINESS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B93E6-2D45-B732-C8E8-4479E7BFD7A7}"/>
              </a:ext>
            </a:extLst>
          </p:cNvPr>
          <p:cNvSpPr txBox="1"/>
          <p:nvPr/>
        </p:nvSpPr>
        <p:spPr>
          <a:xfrm>
            <a:off x="688913" y="1659285"/>
            <a:ext cx="756297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High sales volume indicates strong customer demand.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Digital payments dominate customer transactions.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Targeted marketing in high-performing states can increase revenue</a:t>
            </a:r>
            <a:endParaRPr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C7CAD0-DED9-7626-50D2-42326FCCF613}"/>
              </a:ext>
            </a:extLst>
          </p:cNvPr>
          <p:cNvCxnSpPr/>
          <p:nvPr/>
        </p:nvCxnSpPr>
        <p:spPr>
          <a:xfrm>
            <a:off x="0" y="1130710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CF361E-5A2E-0F7E-C3D9-0FBE415A5167}"/>
              </a:ext>
            </a:extLst>
          </p:cNvPr>
          <p:cNvCxnSpPr/>
          <p:nvPr/>
        </p:nvCxnSpPr>
        <p:spPr>
          <a:xfrm>
            <a:off x="0" y="6867832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616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60855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P</a:t>
            </a:r>
            <a:r>
              <a:rPr lang="en-IN" dirty="0"/>
              <a:t>OWER BI DASHBOARD HIGHLIGHTS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41930" y="1991359"/>
            <a:ext cx="72601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800">
                <a:solidFill>
                  <a:srgbClr val="202020"/>
                </a:solidFill>
              </a:defRPr>
            </a:pPr>
            <a:r>
              <a:rPr lang="en-US" sz="2400" dirty="0">
                <a:latin typeface="Calisto MT" panose="02040603050505030304" pitchFamily="18" charset="0"/>
              </a:rPr>
              <a:t>The Power BI dashboard provides analysis, trends, popularity insights, and top-performing </a:t>
            </a:r>
            <a:r>
              <a:rPr lang="en-IN" sz="2400" dirty="0">
                <a:latin typeface="Calisto MT" panose="02040603050505030304" pitchFamily="18" charset="0"/>
              </a:rPr>
              <a:t>categories</a:t>
            </a:r>
            <a:r>
              <a:rPr lang="en-US" sz="2400" dirty="0">
                <a:latin typeface="Calisto MT" panose="02040603050505030304" pitchFamily="18" charset="0"/>
              </a:rPr>
              <a:t>.</a:t>
            </a:r>
            <a:br>
              <a:rPr lang="en-US" sz="2400" dirty="0">
                <a:latin typeface="Calisto MT" panose="02040603050505030304" pitchFamily="18" charset="0"/>
              </a:rPr>
            </a:br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800">
                <a:solidFill>
                  <a:srgbClr val="202020"/>
                </a:solidFill>
              </a:defRPr>
            </a:pPr>
            <a:r>
              <a:rPr lang="en-US" sz="2400" dirty="0">
                <a:latin typeface="Calisto MT" panose="02040603050505030304" pitchFamily="18" charset="0"/>
              </a:rPr>
              <a:t>Interactive filters allow users to explore data across different years of </a:t>
            </a:r>
            <a:r>
              <a:rPr lang="en-IN" sz="2400" dirty="0">
                <a:latin typeface="Calisto MT" panose="02040603050505030304" pitchFamily="18" charset="0"/>
              </a:rPr>
              <a:t>sales</a:t>
            </a:r>
            <a:r>
              <a:rPr lang="en-US" dirty="0"/>
              <a:t>.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617BAD-A6CC-6856-F153-FFD6CE26B5F7}"/>
              </a:ext>
            </a:extLst>
          </p:cNvPr>
          <p:cNvCxnSpPr/>
          <p:nvPr/>
        </p:nvCxnSpPr>
        <p:spPr>
          <a:xfrm>
            <a:off x="0" y="1189704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A032CF-28D9-1B6F-64FD-E0B917CA652B}"/>
              </a:ext>
            </a:extLst>
          </p:cNvPr>
          <p:cNvCxnSpPr/>
          <p:nvPr/>
        </p:nvCxnSpPr>
        <p:spPr>
          <a:xfrm>
            <a:off x="0" y="6848168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7677" y="1457930"/>
            <a:ext cx="641456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The dashboard provides a clear and interactive view of sales performance</a:t>
            </a:r>
          </a:p>
          <a:p>
            <a:endParaRPr lang="en-US"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Helps businesses track trends, optimize categories, and improve payment strategies.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Can be extended with forecasting and customer segmentation.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sz="28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42245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C</a:t>
            </a:r>
            <a:r>
              <a:rPr lang="en-IN" dirty="0"/>
              <a:t>ONCLUSION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F603D7-7D11-3B5E-D64A-D6D35DD97684}"/>
              </a:ext>
            </a:extLst>
          </p:cNvPr>
          <p:cNvCxnSpPr/>
          <p:nvPr/>
        </p:nvCxnSpPr>
        <p:spPr>
          <a:xfrm>
            <a:off x="0" y="1150374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050724-DDEF-5C86-DF0B-877FB2B9D25C}"/>
              </a:ext>
            </a:extLst>
          </p:cNvPr>
          <p:cNvCxnSpPr/>
          <p:nvPr/>
        </p:nvCxnSpPr>
        <p:spPr>
          <a:xfrm>
            <a:off x="0" y="6902245"/>
            <a:ext cx="9144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2179</TotalTime>
  <Words>340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Californian FB</vt:lpstr>
      <vt:lpstr>Calisto MT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Nandani Inde</dc:creator>
  <cp:keywords/>
  <dc:description>generated using python-pptx</dc:description>
  <cp:lastModifiedBy>Nandani Inde</cp:lastModifiedBy>
  <cp:revision>7</cp:revision>
  <dcterms:created xsi:type="dcterms:W3CDTF">2013-01-27T09:14:16Z</dcterms:created>
  <dcterms:modified xsi:type="dcterms:W3CDTF">2026-01-03T10:58:44Z</dcterms:modified>
  <cp:category/>
</cp:coreProperties>
</file>